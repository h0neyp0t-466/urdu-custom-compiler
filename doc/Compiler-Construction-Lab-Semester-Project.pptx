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0" y="1329125"/>
            <a:ext cx="731520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365701"/>
            <a:ext cx="100584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Mini Programming Langua</a:t>
            </a:r>
            <a:r>
              <a:rPr lang="en-US" dirty="0"/>
              <a:t>g</a:t>
            </a:r>
            <a:r>
              <a:rPr dirty="0"/>
              <a:t>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E7D32"/>
                </a:solidFill>
                <a:latin typeface="Calibri"/>
              </a:defRPr>
            </a:pPr>
            <a:r>
              <a:t>A Roman Urdu Programming Language with Full Compiler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291840"/>
            <a:ext cx="3657600" cy="274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3566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Calibri"/>
              </a:defRPr>
            </a:pPr>
            <a:r>
              <a:t>Compiler Construction Lab — Semester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114800"/>
            <a:ext cx="6400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SUBMITTED TO:  Sir Azib Mahmood</a:t>
            </a:r>
          </a:p>
          <a:p>
            <a:pPr>
              <a:spcAft>
                <a:spcPts val="2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SUBJECT:  Compiler Construction Lab</a:t>
            </a:r>
          </a:p>
          <a:p>
            <a:pPr>
              <a:spcAft>
                <a:spcPts val="2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SECTION:  L(12)  |  SEMESTER:  6th</a:t>
            </a:r>
          </a:p>
          <a:p>
            <a:pPr>
              <a:spcAft>
                <a:spcPts val="2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GROUP MEMBERS:</a:t>
            </a:r>
          </a:p>
          <a:p>
            <a:pPr>
              <a:spcAft>
                <a:spcPts val="2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  M.Fezan       —  Fall-23-BSCS-466</a:t>
            </a:r>
          </a:p>
          <a:p>
            <a:pPr>
              <a:spcAft>
                <a:spcPts val="2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  Shoaib Rafiq   —  Fall-23-BSCS-479</a:t>
            </a:r>
          </a:p>
          <a:p>
            <a:pPr>
              <a:spcAft>
                <a:spcPts val="2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  Umer Malik     —  Fall-23-BSCS-628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5943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2E7D32"/>
                </a:solidFill>
                <a:latin typeface="Calibri"/>
              </a:defRPr>
            </a:pPr>
            <a:r>
              <a:t>Lahore Garrison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280160"/>
            <a:ext cx="274320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97280" y="1737360"/>
            <a:ext cx="502920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78308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7830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Project Overview &amp; Motivation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971800"/>
            <a:ext cx="502920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01752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Problem Statement &amp; Approach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4206240"/>
            <a:ext cx="502920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42519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42519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5440680"/>
            <a:ext cx="502920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54864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54864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Compiler Pipeline (7 Stages)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737360"/>
            <a:ext cx="502920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178308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7830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Language Syntax &amp; Features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971800"/>
            <a:ext cx="502920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30175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301752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Web IDE &amp; Screenshots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4206240"/>
            <a:ext cx="502920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42519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2519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Results &amp; Test Cases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5440680"/>
            <a:ext cx="502920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54864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54864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Future Work &amp;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097280"/>
            <a:ext cx="274320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DDDDD"/>
                </a:solidFill>
                <a:latin typeface="Calibri"/>
              </a:defRPr>
            </a:pPr>
            <a:r>
              <a:t>Mini Programming Language is a custom programming language with Roman Urdu syntax, paired with a complete compiler and interpreter implementation. The project consists of two main components: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743200"/>
            <a:ext cx="5029200" cy="18288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97280" y="2743200"/>
            <a:ext cx="73152" cy="1828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2834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7D32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918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Python-based compiler with 7-stage pipeline served through FastAPI REST 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2743200"/>
            <a:ext cx="5029200" cy="18288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92240" y="2743200"/>
            <a:ext cx="73152" cy="1828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66560" y="2834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7D32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2918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React-based Web IDE featuring Monaco Editor with custom Urdu syntax highlighting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C107"/>
                </a:solidFill>
                <a:latin typeface="Calibri"/>
              </a:defRPr>
            </a:pPr>
            <a:r>
              <a:t>Key Constraint:  Zero external compiler tools — no PLY, ANTLR, or parser generators. Every stage is hand-written in pure Python.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577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7D32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6035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Keywords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5577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7D32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6035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Pipeline Stages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5577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7D32"/>
                </a:solidFill>
                <a:latin typeface="Calibri"/>
              </a:defRPr>
            </a:pPr>
            <a:r>
              <a:t>12/12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6035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Tests Passing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5577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7D32"/>
                </a:solidFill>
                <a:latin typeface="Calibri"/>
              </a:defRPr>
            </a:pPr>
            <a:r>
              <a:t>&lt;5ms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035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Execution 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Problem &amp;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097280"/>
            <a:ext cx="274320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97280" y="1463040"/>
            <a:ext cx="5303520" cy="22860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7280" y="1463040"/>
            <a:ext cx="73152" cy="2286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6B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01168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DDDDD"/>
                </a:solidFill>
                <a:latin typeface="Calibri"/>
              </a:defRPr>
            </a:pPr>
            <a:r>
              <a:t>Programming languages use English keywords (if, while, print, return) that create a significant barrier for non-English speakers. In Pakistan and South Asia, millions communicate daily in Urdu but have limited English proficiency.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1463040"/>
            <a:ext cx="5029200" cy="22860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0" y="1463040"/>
            <a:ext cx="73152" cy="2286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7D32"/>
                </a:solidFill>
                <a:latin typeface="Calibri"/>
              </a:defRPr>
            </a:pPr>
            <a:r>
              <a:t>Our 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01168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DDDDD"/>
                </a:solidFill>
                <a:latin typeface="Calibri"/>
              </a:defRPr>
            </a:pPr>
            <a:r>
              <a:t>A complete compiler pipeline for a custom language with Roman Urdu syntax — not a thin wrapper, but a full implementation supporting variables, control flow, functions, arrays, and optimization.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023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Design Principles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4480560"/>
            <a:ext cx="5029200" cy="914400"/>
          </a:xfrm>
          <a:prstGeom prst="rect">
            <a:avLst/>
          </a:prstGeom>
          <a:solidFill>
            <a:srgbClr val="1E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80160" y="4526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Zero External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846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Every stage hand-written from scratch — no PLY or ANTLR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5577840"/>
            <a:ext cx="5029200" cy="914400"/>
          </a:xfrm>
          <a:prstGeom prst="rect">
            <a:avLst/>
          </a:prstGeom>
          <a:solidFill>
            <a:srgbClr val="1E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80160" y="5623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Educational Focus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943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Every pipeline stage visible to the user in the Web IDE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4480560"/>
            <a:ext cx="5029200" cy="914400"/>
          </a:xfrm>
          <a:prstGeom prst="rect">
            <a:avLst/>
          </a:prstGeom>
          <a:solidFill>
            <a:srgbClr val="1E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0" y="4526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Urdu-First Errors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846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Error messages in Urdu with Levenshtein 'did you mean?' suggestions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5577840"/>
            <a:ext cx="5029200" cy="914400"/>
          </a:xfrm>
          <a:prstGeom prst="rect">
            <a:avLst/>
          </a:prstGeom>
          <a:solidFill>
            <a:srgbClr val="1E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0" y="5623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Block Scoping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5943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Variables in agar/jabtak blocks are local to that scope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097280"/>
            <a:ext cx="274320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97280" y="2011680"/>
            <a:ext cx="2011680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Frontend</a:t>
            </a:r>
            <a:br/>
            <a:r>
              <a:t>React + Monaco</a:t>
            </a:r>
            <a:br/>
            <a:r>
              <a:t>Port 5173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2860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E7D32"/>
                </a:solidFill>
                <a:latin typeface="Calibri"/>
              </a:defRPr>
            </a:pPr>
            <a:r>
              <a:t>POST /run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2011680"/>
            <a:ext cx="2011680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0" y="201168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FastAPI Backend</a:t>
            </a:r>
            <a:br/>
            <a:r>
              <a:t>Python + Pydantic</a:t>
            </a:r>
            <a:br/>
            <a:r>
              <a:t>Port 8008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2860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E7D32"/>
                </a:solidFill>
                <a:latin typeface="Calibri"/>
              </a:defRPr>
            </a:pPr>
            <a:r>
              <a:t>JSON Response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2011680"/>
            <a:ext cx="2011680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60" y="201168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6-Tab Output</a:t>
            </a:r>
            <a:br/>
            <a:r>
              <a:t>Visualization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" y="2468880"/>
            <a:ext cx="27432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" y="2468880"/>
            <a:ext cx="27432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" y="2468880"/>
            <a:ext cx="27432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" y="2468880"/>
            <a:ext cx="27432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3474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3931920"/>
            <a:ext cx="5029200" cy="50292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80160" y="39776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Calibri"/>
              </a:defRPr>
            </a:pPr>
            <a:r>
              <a:t>Python 3.10+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977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Backend compiler pipeline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" y="4572000"/>
            <a:ext cx="5029200" cy="50292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80160" y="46177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Calibri"/>
              </a:defRPr>
            </a:pPr>
            <a:r>
              <a:t>FastAPI 0.115+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6177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REST API backend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5212079"/>
            <a:ext cx="5029200" cy="50292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80160" y="525779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Calibri"/>
              </a:defRPr>
            </a:pPr>
            <a:r>
              <a:t>React 19.2.5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525779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Frontend UI framework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97280" y="5852159"/>
            <a:ext cx="5029200" cy="50292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280160" y="589787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Calibri"/>
              </a:defRPr>
            </a:pPr>
            <a:r>
              <a:t>Monaco Editor 4.7.0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589787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VS Code editor in browser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3931920"/>
            <a:ext cx="5029200" cy="50292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75120" y="39776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Calibri"/>
              </a:defRPr>
            </a:pPr>
            <a:r>
              <a:t>TypeScript 6.0+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3977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Type-safe frontend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4572000"/>
            <a:ext cx="5029200" cy="50292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75120" y="46177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Calibri"/>
              </a:defRPr>
            </a:pPr>
            <a:r>
              <a:t>Vite 8.0.10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6177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Build tool &amp; dev server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5212079"/>
            <a:ext cx="5029200" cy="50292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675120" y="525779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Calibri"/>
              </a:defRPr>
            </a:pPr>
            <a:r>
              <a:t>Pydantic 2.0+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0" y="525779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Request/response validation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92240" y="5852159"/>
            <a:ext cx="5029200" cy="50292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75120" y="589787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Calibri"/>
              </a:defRPr>
            </a:pPr>
            <a:r>
              <a:t>Uvicorn 0.32+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0" y="589787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ASGI server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7-Stage Compiler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914400"/>
            <a:ext cx="274320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280160"/>
            <a:ext cx="1508760" cy="2560320"/>
          </a:xfrm>
          <a:prstGeom prst="rect">
            <a:avLst/>
          </a:prstGeom>
          <a:solidFill>
            <a:srgbClr val="156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1C784"/>
                </a:solidFill>
                <a:latin typeface="Calibri"/>
              </a:defRPr>
            </a:pPr>
            <a:r>
              <a:t>Stage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Lexer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1325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Source → Tokens</a:t>
            </a:r>
            <a:br/>
            <a:r>
              <a:t>14 token types</a:t>
            </a:r>
            <a:br/>
            <a:r>
              <a:t>~270 lines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359152" y="2468880"/>
            <a:ext cx="73152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450592" y="1280160"/>
            <a:ext cx="1508760" cy="2560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50592" y="137160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1C784"/>
                </a:solidFill>
                <a:latin typeface="Calibri"/>
              </a:defRPr>
            </a:pPr>
            <a:r>
              <a:t>Stage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0592" y="169164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Parser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2032" y="2103120"/>
            <a:ext cx="1325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Tokens → AST</a:t>
            </a:r>
            <a:br/>
            <a:r>
              <a:t>18 node types</a:t>
            </a:r>
            <a:br/>
            <a:r>
              <a:t>~545 lines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86784" y="2468880"/>
            <a:ext cx="73152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078224" y="1280160"/>
            <a:ext cx="1508760" cy="2560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78224" y="137160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1C784"/>
                </a:solidFill>
                <a:latin typeface="Calibri"/>
              </a:defRPr>
            </a:pPr>
            <a:r>
              <a:t>Stage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78224" y="169164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Semantic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9664" y="2103120"/>
            <a:ext cx="1325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Type checking</a:t>
            </a:r>
            <a:br/>
            <a:r>
              <a:t>Scope resolution</a:t>
            </a:r>
            <a:br/>
            <a:r>
              <a:t>~385 lines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14416" y="2468880"/>
            <a:ext cx="73152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705856" y="1280160"/>
            <a:ext cx="1508760" cy="2560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05856" y="137160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1C784"/>
                </a:solidFill>
                <a:latin typeface="Calibri"/>
              </a:defRPr>
            </a:pPr>
            <a:r>
              <a:t>Stage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05856" y="169164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IR Gen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97296" y="2103120"/>
            <a:ext cx="1325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AST → TAC</a:t>
            </a:r>
            <a:br/>
            <a:r>
              <a:t>Temp vars &amp; labels</a:t>
            </a:r>
            <a:br/>
            <a:r>
              <a:t>~220 lines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42048" y="2468880"/>
            <a:ext cx="73152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33488" y="1280160"/>
            <a:ext cx="1508760" cy="2560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33488" y="137160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1C784"/>
                </a:solidFill>
                <a:latin typeface="Calibri"/>
              </a:defRPr>
            </a:pPr>
            <a:r>
              <a:t>Stage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3488" y="169164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Optimizer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4928" y="2103120"/>
            <a:ext cx="1325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Const folding</a:t>
            </a:r>
            <a:br/>
            <a:r>
              <a:t>Const propagation</a:t>
            </a:r>
            <a:br/>
            <a:r>
              <a:t>Dead code elim</a:t>
            </a:r>
            <a:br/>
            <a:r>
              <a:t>~275 lines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69680" y="2468880"/>
            <a:ext cx="73152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961120" y="1280160"/>
            <a:ext cx="1508760" cy="2560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961120" y="137160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1C784"/>
                </a:solidFill>
                <a:latin typeface="Calibri"/>
              </a:defRPr>
            </a:pPr>
            <a:r>
              <a:t>Stage 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169164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CodeGen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0" y="2103120"/>
            <a:ext cx="1325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AST → Python</a:t>
            </a:r>
            <a:br/>
            <a:r>
              <a:t>Transpilation</a:t>
            </a:r>
            <a:br/>
            <a:r>
              <a:t>~180 lines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497312" y="2468880"/>
            <a:ext cx="73152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0588752" y="1280160"/>
            <a:ext cx="1508760" cy="2560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588752" y="137160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1C784"/>
                </a:solidFill>
                <a:latin typeface="Calibri"/>
              </a:defRPr>
            </a:pPr>
            <a:r>
              <a:t>Stage 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88752" y="169164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Interpreter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80192" y="2103120"/>
            <a:ext cx="1325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Tree-walk exec</a:t>
            </a:r>
            <a:br/>
            <a:r>
              <a:t>Environment scopes</a:t>
            </a:r>
            <a:br/>
            <a:r>
              <a:t>~375 lines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4023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Source Code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97280" y="4389120"/>
            <a:ext cx="10515600" cy="27432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9728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Key Pipeline Features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97280" y="5029200"/>
            <a:ext cx="3291840" cy="384048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234440" y="50749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▸  6-level operator precedence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663440" y="5029200"/>
            <a:ext cx="3291840" cy="384048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800600" y="50749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▸  Levenshtein suggestions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0" y="5029200"/>
            <a:ext cx="3291840" cy="384048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366760" y="50749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▸  Block scoping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97280" y="5532120"/>
            <a:ext cx="3291840" cy="384048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234440" y="55778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▸  Constant folding (2 passes)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663440" y="5532120"/>
            <a:ext cx="3291840" cy="384048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800600" y="55778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▸  Constant propagation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29600" y="5532120"/>
            <a:ext cx="3291840" cy="384048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366760" y="55778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▸  Dead code elimination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97280" y="6035040"/>
            <a:ext cx="3291840" cy="384048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234440" y="60807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▸  10K iteration cap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663440" y="6035040"/>
            <a:ext cx="3291840" cy="384048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800600" y="60807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▸  100 call depth cap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229600" y="6035040"/>
            <a:ext cx="3291840" cy="384048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366760" y="60807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▸  Urdu error messages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Language Syntax &amp; Keywords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914400"/>
            <a:ext cx="274320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188720"/>
            <a:ext cx="3566160" cy="86868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188720"/>
            <a:ext cx="54864" cy="868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234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rakho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234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keep / 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600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Calibri"/>
              </a:defRPr>
            </a:pPr>
            <a:r>
              <a:t>Variable declaration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240280"/>
            <a:ext cx="3566160" cy="86868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2240280"/>
            <a:ext cx="54864" cy="868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286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dikhao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show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651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Calibri"/>
              </a:defRPr>
            </a:pPr>
            <a:r>
              <a:t>Print output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291839"/>
            <a:ext cx="3566160" cy="86868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" y="3291839"/>
            <a:ext cx="54864" cy="868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333755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agar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33375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if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70331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Calibri"/>
              </a:defRPr>
            </a:pPr>
            <a:r>
              <a:t>Conditional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343400"/>
            <a:ext cx="3566160" cy="86868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2960" y="4343400"/>
            <a:ext cx="54864" cy="868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4389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warna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4389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else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754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Calibri"/>
              </a:defRPr>
            </a:pPr>
            <a:r>
              <a:t>Else branch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1188720"/>
            <a:ext cx="3566160" cy="86868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663440" y="1188720"/>
            <a:ext cx="54864" cy="868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46320" y="1234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jabtak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1234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while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1600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Calibri"/>
              </a:defRPr>
            </a:pPr>
            <a:r>
              <a:t>While loop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63440" y="2240280"/>
            <a:ext cx="3566160" cy="86868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663440" y="2240280"/>
            <a:ext cx="54864" cy="868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46320" y="2286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khatam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end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2651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Calibri"/>
              </a:defRPr>
            </a:pPr>
            <a:r>
              <a:t>Block terminator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63440" y="3291839"/>
            <a:ext cx="3566160" cy="86868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663440" y="3291839"/>
            <a:ext cx="54864" cy="868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846320" y="333755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sahi / ghalat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33375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true / false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6320" y="370331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Calibri"/>
              </a:defRPr>
            </a:pPr>
            <a:r>
              <a:t>Boolean literals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63440" y="4343400"/>
            <a:ext cx="3566160" cy="86868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663440" y="4343400"/>
            <a:ext cx="54864" cy="868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846320" y="4389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aur / ya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4389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and / 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46320" y="4754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Calibri"/>
              </a:defRPr>
            </a:pPr>
            <a:r>
              <a:t>Logical operators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03920" y="1188720"/>
            <a:ext cx="3566160" cy="86868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503920" y="1188720"/>
            <a:ext cx="54864" cy="868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686800" y="1234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functionbnao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0" y="1234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make function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1600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Calibri"/>
              </a:defRPr>
            </a:pPr>
            <a:r>
              <a:t>Function definition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03920" y="2240280"/>
            <a:ext cx="3566160" cy="86868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8503920" y="2240280"/>
            <a:ext cx="54864" cy="868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686800" y="2286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wapisbejo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send back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0" y="2651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Calibri"/>
              </a:defRPr>
            </a:pPr>
            <a:r>
              <a:t>Return from function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503920" y="3291839"/>
            <a:ext cx="3566160" cy="86868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8503920" y="3291839"/>
            <a:ext cx="54864" cy="868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686800" y="333755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input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58400" y="33375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input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370331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Calibri"/>
              </a:defRPr>
            </a:pPr>
            <a:r>
              <a:t>Read user input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03920" y="4343400"/>
            <a:ext cx="3566160" cy="86868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8503920" y="4343400"/>
            <a:ext cx="54864" cy="868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686800" y="4389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int / str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58400" y="4389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type cast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86800" y="4754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Calibri"/>
              </a:defRPr>
            </a:pPr>
            <a:r>
              <a:t>Type casting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Code Example — Functions &amp; Arrays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914400"/>
            <a:ext cx="274320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97280" y="1179576"/>
            <a:ext cx="10515600" cy="50292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12801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555577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2801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7D32"/>
                </a:solidFill>
                <a:latin typeface="Consolas"/>
              </a:defRPr>
            </a:pPr>
            <a:r>
              <a:t>functionbnao add(a, 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58191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555577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58191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    wapisbejo a +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88366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555577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88366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khatam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4871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555577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48716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7D32"/>
                </a:solidFill>
                <a:latin typeface="Consolas"/>
              </a:defRPr>
            </a:pPr>
            <a:r>
              <a:t>functionbnao greet(naam)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88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555577"/>
                </a:solidFill>
                <a:latin typeface="Consolas"/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7889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E9178"/>
                </a:solidFill>
                <a:latin typeface="Consolas"/>
              </a:defRPr>
            </a:pPr>
            <a:r>
              <a:t>    dikhao "Assalam, " + naam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09067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555577"/>
                </a:solidFill>
                <a:latin typeface="Consolas"/>
              </a:defRPr>
            </a:pPr>
            <a: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09067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khatam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6941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555577"/>
                </a:solidFill>
                <a:latin typeface="Consolas"/>
              </a:defRPr>
            </a:pPr>
            <a: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694176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greet("Fezan")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9959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555577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99592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rakho result = add(10, 20)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2976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555577"/>
                </a:solidFill>
                <a:latin typeface="Consolas"/>
              </a:defRPr>
            </a:pPr>
            <a:r>
              <a:t>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29768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E9178"/>
                </a:solidFill>
                <a:latin typeface="Consolas"/>
              </a:defRPr>
            </a:pPr>
            <a:r>
              <a:t>dikhao 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901183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555577"/>
                </a:solidFill>
                <a:latin typeface="Consolas"/>
              </a:defRPr>
            </a:pPr>
            <a:r>
              <a:t>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901183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rakho fruits = ["Aam", "Seb", "Kela"]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20293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555577"/>
                </a:solidFill>
                <a:latin typeface="Consolas"/>
              </a:defRPr>
            </a:pPr>
            <a:r>
              <a:t>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202936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E9178"/>
                </a:solidFill>
                <a:latin typeface="Consolas"/>
              </a:defRPr>
            </a:pPr>
            <a:r>
              <a:t>dikhao fruits[0]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5046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555577"/>
                </a:solidFill>
                <a:latin typeface="Consolas"/>
              </a:defRPr>
            </a:pPr>
            <a:r>
              <a:t>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550468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rakho fruits[1] = "Anaar"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97280" y="5943600"/>
            <a:ext cx="10515600" cy="274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97280" y="59710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C107"/>
                </a:solidFill>
                <a:latin typeface="Consolas"/>
              </a:defRPr>
            </a:pPr>
            <a:r>
              <a:rPr dirty="0"/>
              <a:t>Output:  </a:t>
            </a:r>
            <a:r>
              <a:rPr dirty="0" err="1"/>
              <a:t>Assalam</a:t>
            </a:r>
            <a:r>
              <a:rPr dirty="0"/>
              <a:t>, Fezan  |  30  |  Aam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Web IDE — Main Interface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822960"/>
            <a:ext cx="274320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WEB 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272" y="1097280"/>
            <a:ext cx="10696174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Stage 1: Lexical Analysis — Token Stream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822960"/>
            <a:ext cx="274320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oke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92381"/>
            <a:ext cx="5029200" cy="4838996"/>
          </a:xfrm>
          <a:prstGeom prst="rect">
            <a:avLst/>
          </a:prstGeom>
        </p:spPr>
      </p:pic>
      <p:pic>
        <p:nvPicPr>
          <p:cNvPr id="6" name="Picture 5" descr="server_imgof_LEX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3026" y="1097280"/>
            <a:ext cx="3539066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Stage 2: Parsing — AST &amp; Symbol 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822960"/>
            <a:ext cx="274320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92381"/>
            <a:ext cx="5029200" cy="4838996"/>
          </a:xfrm>
          <a:prstGeom prst="rect">
            <a:avLst/>
          </a:prstGeom>
        </p:spPr>
      </p:pic>
      <p:pic>
        <p:nvPicPr>
          <p:cNvPr id="6" name="Picture 5" descr="server_img_parser_symbol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1598" y="1097280"/>
            <a:ext cx="4381923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Stage 3: Semantic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822960"/>
            <a:ext cx="274320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eman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4183"/>
            <a:ext cx="5029200" cy="485539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0" y="1097280"/>
            <a:ext cx="5303520" cy="50292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0" y="1097280"/>
            <a:ext cx="73152" cy="5029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12801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7D32"/>
                </a:solidFill>
                <a:latin typeface="Calibri"/>
              </a:defRPr>
            </a:pPr>
            <a:r>
              <a:t>Semantic Analysis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DDDDDD"/>
                </a:solidFill>
                <a:latin typeface="Calibri"/>
              </a:defRPr>
            </a:pPr>
            <a:r>
              <a:t>✓ Type checking for all expressions</a:t>
            </a:r>
          </a:p>
          <a:p>
            <a:pPr>
              <a:spcAft>
                <a:spcPts val="800"/>
              </a:spcAft>
              <a:defRPr sz="1500">
                <a:solidFill>
                  <a:srgbClr val="DDDDDD"/>
                </a:solidFill>
                <a:latin typeface="Calibri"/>
              </a:defRPr>
            </a:pPr>
            <a:r>
              <a:t>✓ Scope resolution (global &amp; local)</a:t>
            </a:r>
          </a:p>
          <a:p>
            <a:pPr>
              <a:spcAft>
                <a:spcPts val="800"/>
              </a:spcAft>
              <a:defRPr sz="1500">
                <a:solidFill>
                  <a:srgbClr val="DDDDDD"/>
                </a:solidFill>
                <a:latin typeface="Calibri"/>
              </a:defRPr>
            </a:pPr>
            <a:r>
              <a:t>✓ Undefined variable detection</a:t>
            </a:r>
          </a:p>
          <a:p>
            <a:pPr>
              <a:spcAft>
                <a:spcPts val="800"/>
              </a:spcAft>
              <a:defRPr sz="1500">
                <a:solidFill>
                  <a:srgbClr val="DDDDDD"/>
                </a:solidFill>
                <a:latin typeface="Calibri"/>
              </a:defRPr>
            </a:pPr>
            <a:r>
              <a:t>✓ Division-by-zero static detection</a:t>
            </a:r>
          </a:p>
          <a:p>
            <a:pPr>
              <a:spcAft>
                <a:spcPts val="800"/>
              </a:spcAft>
              <a:defRPr sz="1500">
                <a:solidFill>
                  <a:srgbClr val="DDDDDD"/>
                </a:solidFill>
                <a:latin typeface="Calibri"/>
              </a:defRPr>
            </a:pPr>
            <a:r>
              <a:t>✓ Function signature validation</a:t>
            </a:r>
          </a:p>
          <a:p>
            <a:pPr>
              <a:spcAft>
                <a:spcPts val="800"/>
              </a:spcAft>
              <a:defRPr sz="1500">
                <a:solidFill>
                  <a:srgbClr val="DDDDDD"/>
                </a:solidFill>
                <a:latin typeface="Calibri"/>
              </a:defRPr>
            </a:pPr>
            <a:r>
              <a:t>✓ Return type checking</a:t>
            </a:r>
          </a:p>
          <a:p>
            <a:pPr>
              <a:spcAft>
                <a:spcPts val="800"/>
              </a:spcAft>
              <a:defRPr sz="1500">
                <a:solidFill>
                  <a:srgbClr val="DDDDDD"/>
                </a:solidFill>
                <a:latin typeface="Calibri"/>
              </a:defRPr>
            </a:pPr>
            <a:r>
              <a:t>✓ Symbol table generation</a:t>
            </a:r>
          </a:p>
          <a:p>
            <a:pPr>
              <a:spcAft>
                <a:spcPts val="800"/>
              </a:spcAft>
              <a:defRPr sz="1500">
                <a:solidFill>
                  <a:srgbClr val="DDDDDD"/>
                </a:solidFill>
                <a:latin typeface="Calibri"/>
              </a:defRPr>
            </a:pPr>
            <a:r>
              <a:t>✓ Scoped symbol tracking with depth</a:t>
            </a:r>
          </a:p>
          <a:p>
            <a:pPr>
              <a:spcAft>
                <a:spcPts val="800"/>
              </a:spcAft>
              <a:defRPr sz="1500">
                <a:solidFill>
                  <a:srgbClr val="DDDDDD"/>
                </a:solidFill>
                <a:latin typeface="Calibri"/>
              </a:defRPr>
            </a:pPr>
            <a:r>
              <a:t>✓ Urdu-first error messages</a:t>
            </a:r>
          </a:p>
          <a:p>
            <a:pPr>
              <a:spcAft>
                <a:spcPts val="800"/>
              </a:spcAft>
              <a:defRPr sz="1500">
                <a:solidFill>
                  <a:srgbClr val="DDDDDD"/>
                </a:solidFill>
                <a:latin typeface="Calibri"/>
              </a:defRPr>
            </a:pPr>
            <a:r>
              <a:t>✓ Levenshtein 'did you mean?' suggestions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Stages 4 &amp; 5: IR Generation &amp; Optimization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822960"/>
            <a:ext cx="274320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67677"/>
            <a:ext cx="5029200" cy="4888404"/>
          </a:xfrm>
          <a:prstGeom prst="rect">
            <a:avLst/>
          </a:prstGeom>
        </p:spPr>
      </p:pic>
      <p:pic>
        <p:nvPicPr>
          <p:cNvPr id="6" name="Picture 5" descr="server_imgof_tac_optimization_pythoncde_out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5860" y="1097280"/>
            <a:ext cx="3073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Stage 6: Python Code Generation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822960"/>
            <a:ext cx="274320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ython_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92381"/>
            <a:ext cx="5029200" cy="483899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0" y="1097280"/>
            <a:ext cx="5303520" cy="50292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0" y="1097280"/>
            <a:ext cx="73152" cy="5029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12801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7D32"/>
                </a:solidFill>
                <a:latin typeface="Calibri"/>
              </a:defRPr>
            </a:pPr>
            <a:r>
              <a:t>Code Generation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82880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DDDDDD"/>
                </a:solidFill>
                <a:latin typeface="Calibri"/>
              </a:defRPr>
            </a:pPr>
            <a:r>
              <a:t>✓ AST → Python source transpilation</a:t>
            </a:r>
          </a:p>
          <a:p>
            <a:pPr>
              <a:spcAft>
                <a:spcPts val="1000"/>
              </a:spcAft>
              <a:defRPr sz="1500">
                <a:solidFill>
                  <a:srgbClr val="DDDDDD"/>
                </a:solidFill>
                <a:latin typeface="Calibri"/>
              </a:defRPr>
            </a:pPr>
            <a:r>
              <a:t>✓ Function definitions with parameters</a:t>
            </a:r>
          </a:p>
          <a:p>
            <a:pPr>
              <a:spcAft>
                <a:spcPts val="1000"/>
              </a:spcAft>
              <a:defRPr sz="1500">
                <a:solidFill>
                  <a:srgbClr val="DDDDDD"/>
                </a:solidFill>
                <a:latin typeface="Calibri"/>
              </a:defRPr>
            </a:pPr>
            <a:r>
              <a:t>✓ Control flow (if/else, while)</a:t>
            </a:r>
          </a:p>
          <a:p>
            <a:pPr>
              <a:spcAft>
                <a:spcPts val="1000"/>
              </a:spcAft>
              <a:defRPr sz="1500">
                <a:solidFill>
                  <a:srgbClr val="DDDDDD"/>
                </a:solidFill>
                <a:latin typeface="Calibri"/>
              </a:defRPr>
            </a:pPr>
            <a:r>
              <a:t>✓ Array literals and indexing</a:t>
            </a:r>
          </a:p>
          <a:p>
            <a:pPr>
              <a:spcAft>
                <a:spcPts val="1000"/>
              </a:spcAft>
              <a:defRPr sz="1500">
                <a:solidFill>
                  <a:srgbClr val="DDDDDD"/>
                </a:solidFill>
                <a:latin typeface="Calibri"/>
              </a:defRPr>
            </a:pPr>
            <a:r>
              <a:t>✓ Print statements</a:t>
            </a:r>
          </a:p>
          <a:p>
            <a:pPr>
              <a:spcAft>
                <a:spcPts val="1000"/>
              </a:spcAft>
              <a:defRPr sz="1500">
                <a:solidFill>
                  <a:srgbClr val="DDDDDD"/>
                </a:solidFill>
                <a:latin typeface="Calibri"/>
              </a:defRPr>
            </a:pPr>
            <a:r>
              <a:t>✓ Return statements</a:t>
            </a:r>
          </a:p>
          <a:p>
            <a:pPr>
              <a:spcAft>
                <a:spcPts val="1000"/>
              </a:spcAft>
              <a:defRPr sz="1500">
                <a:solidFill>
                  <a:srgbClr val="DDDDDD"/>
                </a:solidFill>
                <a:latin typeface="Calibri"/>
              </a:defRPr>
            </a:pPr>
            <a:r>
              <a:t>✓ Valid Python output (runnable)</a:t>
            </a:r>
          </a:p>
          <a:p>
            <a:pPr>
              <a:spcAft>
                <a:spcPts val="1000"/>
              </a:spcAft>
              <a:defRPr sz="1500">
                <a:solidFill>
                  <a:srgbClr val="DDDDDD"/>
                </a:solidFill>
                <a:latin typeface="Calibri"/>
              </a:defRPr>
            </a:pPr>
            <a:r>
              <a:t>✓ ~180 lines of hand-written code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Stage 7: Execution &amp; Final Output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822960"/>
            <a:ext cx="274320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execution_with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33832"/>
            <a:ext cx="10515600" cy="523041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Test Results — 12/12 Passing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822960"/>
            <a:ext cx="274320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97280" y="1188720"/>
            <a:ext cx="5029200" cy="685800"/>
          </a:xfrm>
          <a:prstGeom prst="rect">
            <a:avLst/>
          </a:prstGeom>
          <a:solidFill>
            <a:srgbClr val="1E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7280" y="1188720"/>
            <a:ext cx="54864" cy="685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80160" y="12344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234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Block Scoping (agar)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2344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2E7D32"/>
                </a:solidFill>
                <a:latin typeface="Calibri"/>
              </a:defRPr>
            </a:pPr>
            <a:r>
              <a:t>PASSED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057400"/>
            <a:ext cx="5029200" cy="685800"/>
          </a:xfrm>
          <a:prstGeom prst="rect">
            <a:avLst/>
          </a:prstGeom>
          <a:solidFill>
            <a:srgbClr val="1E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97280" y="2057400"/>
            <a:ext cx="54864" cy="685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80160" y="21031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103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Constant Folding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1031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2E7D32"/>
                </a:solidFill>
                <a:latin typeface="Calibri"/>
              </a:defRPr>
            </a:pPr>
            <a:r>
              <a:t>PASSED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2926080"/>
            <a:ext cx="5029200" cy="685800"/>
          </a:xfrm>
          <a:prstGeom prst="rect">
            <a:avLst/>
          </a:prstGeom>
          <a:solidFill>
            <a:srgbClr val="1E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97280" y="2926080"/>
            <a:ext cx="54864" cy="685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80160" y="2971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2971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Semantic Error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971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2E7D32"/>
                </a:solidFill>
                <a:latin typeface="Calibri"/>
              </a:defRPr>
            </a:pPr>
            <a:r>
              <a:t>PASSED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3794759"/>
            <a:ext cx="5029200" cy="685800"/>
          </a:xfrm>
          <a:prstGeom prst="rect">
            <a:avLst/>
          </a:prstGeom>
          <a:solidFill>
            <a:srgbClr val="1E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097280" y="3794759"/>
            <a:ext cx="54864" cy="685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80160" y="384047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384047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While Loop Scoping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384047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2E7D32"/>
                </a:solidFill>
                <a:latin typeface="Calibri"/>
              </a:defRPr>
            </a:pPr>
            <a:r>
              <a:t>PASSED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97280" y="4663440"/>
            <a:ext cx="5029200" cy="685800"/>
          </a:xfrm>
          <a:prstGeom prst="rect">
            <a:avLst/>
          </a:prstGeom>
          <a:solidFill>
            <a:srgbClr val="1E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097280" y="4663440"/>
            <a:ext cx="54864" cy="685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80160" y="47091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4709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Function Definition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47091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2E7D32"/>
                </a:solidFill>
                <a:latin typeface="Calibri"/>
              </a:defRPr>
            </a:pPr>
            <a:r>
              <a:t>PASSED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97280" y="5532120"/>
            <a:ext cx="5029200" cy="685800"/>
          </a:xfrm>
          <a:prstGeom prst="rect">
            <a:avLst/>
          </a:prstGeom>
          <a:solidFill>
            <a:srgbClr val="1E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97280" y="5532120"/>
            <a:ext cx="54864" cy="685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280160" y="55778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37360" y="5577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Function with Params &amp;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5577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2E7D32"/>
                </a:solidFill>
                <a:latin typeface="Calibri"/>
              </a:defRPr>
            </a:pPr>
            <a:r>
              <a:t>PASSED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92240" y="1188720"/>
            <a:ext cx="5029200" cy="685800"/>
          </a:xfrm>
          <a:prstGeom prst="rect">
            <a:avLst/>
          </a:prstGeom>
          <a:solidFill>
            <a:srgbClr val="1E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92240" y="1188720"/>
            <a:ext cx="54864" cy="685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675120" y="12344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1234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Function in Expression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4160" y="12344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2E7D32"/>
                </a:solidFill>
                <a:latin typeface="Calibri"/>
              </a:defRPr>
            </a:pPr>
            <a:r>
              <a:t>PASSED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92240" y="2057400"/>
            <a:ext cx="5029200" cy="685800"/>
          </a:xfrm>
          <a:prstGeom prst="rect">
            <a:avLst/>
          </a:prstGeom>
          <a:solidFill>
            <a:srgbClr val="1E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492240" y="2057400"/>
            <a:ext cx="54864" cy="685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675120" y="21031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0" y="2103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Array Creation &amp; Access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24160" y="21031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2E7D32"/>
                </a:solidFill>
                <a:latin typeface="Calibri"/>
              </a:defRPr>
            </a:pPr>
            <a:r>
              <a:t>PASSED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92240" y="2926080"/>
            <a:ext cx="5029200" cy="685800"/>
          </a:xfrm>
          <a:prstGeom prst="rect">
            <a:avLst/>
          </a:prstGeom>
          <a:solidFill>
            <a:srgbClr val="1E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492240" y="2926080"/>
            <a:ext cx="54864" cy="685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675120" y="2971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2320" y="2971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Array Index Assignment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24160" y="2971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2E7D32"/>
                </a:solidFill>
                <a:latin typeface="Calibri"/>
              </a:defRPr>
            </a:pPr>
            <a:r>
              <a:t>PASSED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92240" y="3794759"/>
            <a:ext cx="5029200" cy="685800"/>
          </a:xfrm>
          <a:prstGeom prst="rect">
            <a:avLst/>
          </a:prstGeom>
          <a:solidFill>
            <a:srgbClr val="1E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492240" y="3794759"/>
            <a:ext cx="54864" cy="685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675120" y="384047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0" y="384047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Void Function (no return)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24160" y="384047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2E7D32"/>
                </a:solidFill>
                <a:latin typeface="Calibri"/>
              </a:defRPr>
            </a:pPr>
            <a:r>
              <a:t>PASSED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92240" y="4663440"/>
            <a:ext cx="5029200" cy="685800"/>
          </a:xfrm>
          <a:prstGeom prst="rect">
            <a:avLst/>
          </a:prstGeom>
          <a:solidFill>
            <a:srgbClr val="1E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492240" y="4663440"/>
            <a:ext cx="54864" cy="685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675120" y="47091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32320" y="4709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Python Code Generation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424160" y="47091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2E7D32"/>
                </a:solidFill>
                <a:latin typeface="Calibri"/>
              </a:defRPr>
            </a:pPr>
            <a:r>
              <a:t>PASSED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92240" y="5532120"/>
            <a:ext cx="5029200" cy="685800"/>
          </a:xfrm>
          <a:prstGeom prst="rect">
            <a:avLst/>
          </a:prstGeom>
          <a:solidFill>
            <a:srgbClr val="1E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492240" y="5532120"/>
            <a:ext cx="54864" cy="685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675120" y="55778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32320" y="5577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Full Pipeline (functions + arrays)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424160" y="5577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2E7D32"/>
                </a:solidFill>
                <a:latin typeface="Calibri"/>
              </a:defRPr>
            </a:pPr>
            <a:r>
              <a:t>PASSED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97280" y="6400800"/>
            <a:ext cx="10515600" cy="274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371600" y="6492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E7D32"/>
                </a:solidFill>
                <a:latin typeface="Calibri"/>
              </a:defRPr>
            </a:pPr>
            <a:r>
              <a:t>12/12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371600" y="6858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Tests Passed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023360" y="6492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E7D32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023360" y="6858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Pass Rate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75120" y="6492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E7D32"/>
                </a:solidFill>
                <a:latin typeface="Calibri"/>
              </a:defRPr>
            </a:pPr>
            <a:r>
              <a:t>&lt;5ms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675120" y="6858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Avg Execution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326880" y="6492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E7D32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326880" y="6858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Built-in Examples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Future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822960"/>
            <a:ext cx="274320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97280" y="1188720"/>
            <a:ext cx="10515600" cy="5486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7280" y="1188720"/>
            <a:ext cx="54864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25880" y="12344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E7D32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234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Exception Handling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48132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Add try/catch keywords for runtime error handling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1847088"/>
            <a:ext cx="10515600" cy="5486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97280" y="1847088"/>
            <a:ext cx="54864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25880" y="18928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E7D32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18928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File I/O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139696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Support reading and writing files from Urdu code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2505456"/>
            <a:ext cx="10515600" cy="5486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97280" y="2505456"/>
            <a:ext cx="54864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25880" y="25511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E7D32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25511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OOP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2798064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Add classes, objects, and inheritance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3163824"/>
            <a:ext cx="10515600" cy="5486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097280" y="3163824"/>
            <a:ext cx="54864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25880" y="320954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E7D32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20954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Standard Library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345643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Expand built-in functions (math, string, list utilities)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97280" y="3822191"/>
            <a:ext cx="10515600" cy="5486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097280" y="3822191"/>
            <a:ext cx="54864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325880" y="3867911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E7D32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3867911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Bytecode VM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4114799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Replace tree-walk interpreter with bytecode virtual machine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97280" y="4480559"/>
            <a:ext cx="10515600" cy="5486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97280" y="4480559"/>
            <a:ext cx="54864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325880" y="452627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E7D32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452627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Debugger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4773167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Add breakpoints, step-through execution, variable inspection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97280" y="5138928"/>
            <a:ext cx="10515600" cy="5486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97280" y="5138928"/>
            <a:ext cx="54864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325880" y="51846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E7D32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0" y="51846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Multi-file Support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28800" y="5431536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Support imports and modular code organization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97280" y="5797296"/>
            <a:ext cx="10515600" cy="5486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097280" y="5797296"/>
            <a:ext cx="54864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325880" y="58430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E7D32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0" y="584301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Language Server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28800" y="6089904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LSP implementation for IDE autocompletion &amp; IntelliSense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822960"/>
            <a:ext cx="274320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DDDDD"/>
                </a:solidFill>
                <a:latin typeface="Calibri"/>
              </a:defRPr>
            </a:pPr>
            <a:r>
              <a:t>This project successfully designed and implemented a complete compiler pipeline for a custom programming language using Roman Urdu syntax — from lexer to interpreter, everything hand-written from scratch.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286000"/>
            <a:ext cx="3383280" cy="1097280"/>
          </a:xfrm>
          <a:prstGeom prst="rect">
            <a:avLst/>
          </a:prstGeom>
          <a:solidFill>
            <a:srgbClr val="1E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97280" y="2286000"/>
            <a:ext cx="73152" cy="1097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25880" y="2377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Zero External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7432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Every compiler stage hand-written in pure Python — no PLY, ANTLR, or parser generators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566160"/>
            <a:ext cx="3383280" cy="1097280"/>
          </a:xfrm>
          <a:prstGeom prst="rect">
            <a:avLst/>
          </a:prstGeom>
          <a:solidFill>
            <a:srgbClr val="1E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97280" y="3566160"/>
            <a:ext cx="73152" cy="1097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25880" y="3657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Full Language 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40233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Variables, functions, recursion, arrays, user input, type casting, block scoping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4846320"/>
            <a:ext cx="3383280" cy="1097280"/>
          </a:xfrm>
          <a:prstGeom prst="rect">
            <a:avLst/>
          </a:prstGeom>
          <a:solidFill>
            <a:srgbClr val="1E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97280" y="4846320"/>
            <a:ext cx="73152" cy="1097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25880" y="4937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Optimization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303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Constant folding, constant propagation, and dead code elimination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2286000"/>
            <a:ext cx="3383280" cy="1097280"/>
          </a:xfrm>
          <a:prstGeom prst="rect">
            <a:avLst/>
          </a:prstGeom>
          <a:solidFill>
            <a:srgbClr val="1E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754880" y="2286000"/>
            <a:ext cx="73152" cy="1097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83480" y="2377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Interactive Web 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27432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React + Monaco Editor with 6-tab pipeline visualization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3566160"/>
            <a:ext cx="3383280" cy="1097280"/>
          </a:xfrm>
          <a:prstGeom prst="rect">
            <a:avLst/>
          </a:prstGeom>
          <a:solidFill>
            <a:srgbClr val="1E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754880" y="3566160"/>
            <a:ext cx="73152" cy="1097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83480" y="3657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Urdu-First Errors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40233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Error messages in Urdu with Levenshtein 'did you mean?' suggestions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0" y="4846320"/>
            <a:ext cx="3383280" cy="1097280"/>
          </a:xfrm>
          <a:prstGeom prst="rect">
            <a:avLst/>
          </a:prstGeom>
          <a:solidFill>
            <a:srgbClr val="1E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754880" y="4846320"/>
            <a:ext cx="73152" cy="1097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983480" y="4937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12/12 Tests Passing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80" y="5303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Full integration test suite covering all compiler stages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017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E7D32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840480"/>
            <a:ext cx="3931920" cy="274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Calibri"/>
              </a:defRPr>
            </a:pPr>
            <a:r>
              <a:t>M.Fezan  |  Fall-23-BSCS-466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663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E7D32"/>
                </a:solidFill>
                <a:latin typeface="Calibri"/>
              </a:defRPr>
            </a:pPr>
            <a:r>
              <a:t>github.com/H0NEYP0T-466/URDU-CUSTOM-COMPILER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6102293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rPr dirty="0"/>
              <a:t>Lahore Garrison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1181</Words>
  <Application>Microsoft Office PowerPoint</Application>
  <PresentationFormat>Widescreen</PresentationFormat>
  <Paragraphs>293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honeypot</dc:creator>
  <cp:keywords/>
  <dc:description>generated using python-pptx</dc:description>
  <cp:lastModifiedBy>Muhammad Fezan</cp:lastModifiedBy>
  <cp:revision>2</cp:revision>
  <dcterms:created xsi:type="dcterms:W3CDTF">2013-01-27T09:14:16Z</dcterms:created>
  <dcterms:modified xsi:type="dcterms:W3CDTF">2026-05-12T16:09:40Z</dcterms:modified>
  <cp:category/>
</cp:coreProperties>
</file>